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>
              <a:defRPr sz="4000" b="1">
                <a:solidFill>
                  <a:srgbClr val="10B981"/>
                </a:solidFill>
              </a:defRPr>
            </a:pPr>
            <a:r>
              <a:t>JAL DRISHTI • GEO NEXA</a:t>
            </a:r>
          </a:p>
          <a:p>
            <a:pPr>
              <a:defRPr sz="1800">
                <a:solidFill>
                  <a:srgbClr val="F0F6FC"/>
                </a:solidFill>
              </a:defRPr>
            </a:pPr>
            <a:r>
              <a:t>Application of Geospatial Techniques for Visualization &amp; Analysis to Interpret Geo-Coded Images for Watershed Outcomes</a:t>
            </a:r>
          </a:p>
          <a:p>
            <a:pPr>
              <a:defRPr sz="1300">
                <a:solidFill>
                  <a:srgbClr val="94A9C0"/>
                </a:solidFill>
              </a:defRPr>
            </a:pPr>
            <a:r>
              <a:t>Problem Statement ID: SIH26015 | Ministry of Jal Shakti &amp; Department of Land Resources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 2026 • PROBLEM STATEMENT SIH26015</a:t>
            </a:r>
          </a:p>
          <a:p>
            <a:pPr>
              <a:defRPr sz="2400" b="1">
                <a:solidFill>
                  <a:srgbClr val="F0F6FC"/>
                </a:solidFill>
              </a:defRPr>
            </a:pPr>
            <a:r>
              <a:t>Problem Statement &amp; Current Critical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83280" cy="3840480"/>
          </a:xfrm>
          <a:prstGeom prst="roundRect">
            <a:avLst/>
          </a:prstGeom>
          <a:solidFill>
            <a:srgbClr val="0E1E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01. Manual Photo Verification Bottleneck</a:t>
            </a:r>
          </a:p>
          <a:p>
            <a:pPr>
              <a:defRPr sz="1300">
                <a:solidFill>
                  <a:srgbClr val="F0F6FC"/>
                </a:solidFill>
              </a:defRPr>
            </a:pPr>
            <a:r>
              <a:t>Field engineers upload thousands of geo-tagged photos across remote watersheds. Manual inspection by nodal officers is slow, leading to delayed project clearances and fund disbursement.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011680"/>
            <a:ext cx="3383280" cy="3840480"/>
          </a:xfrm>
          <a:prstGeom prst="roundRect">
            <a:avLst/>
          </a:prstGeom>
          <a:solidFill>
            <a:srgbClr val="0E1E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02. Photo Recycling &amp; Fraud Risk</a:t>
            </a:r>
          </a:p>
          <a:p>
            <a:pPr>
              <a:defRPr sz="1300">
                <a:solidFill>
                  <a:srgbClr val="F0F6FC"/>
                </a:solidFill>
              </a:defRPr>
            </a:pPr>
            <a:r>
              <a:t>Absence of automated cryptographic anti-tamper checking means identical photos or stock photos can be recycled across different billing milestones or projects.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011680"/>
            <a:ext cx="3383280" cy="3840480"/>
          </a:xfrm>
          <a:prstGeom prst="roundRect">
            <a:avLst/>
          </a:prstGeom>
          <a:solidFill>
            <a:srgbClr val="0E1E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03. No Satellite Cross-Verification</a:t>
            </a:r>
          </a:p>
          <a:p>
            <a:pPr>
              <a:defRPr sz="1300">
                <a:solidFill>
                  <a:srgbClr val="F0F6FC"/>
                </a:solidFill>
              </a:defRPr>
            </a:pPr>
            <a:r>
              <a:t>Current reporting relies solely on ground claims. There is no automated cross-check between ground structures and satellite remote sensing (NDVI/soil moisture) to prove real ecological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 2026 • PROBLEM STATEMENT SIH26015</a:t>
            </a:r>
          </a:p>
          <a:p>
            <a:pPr>
              <a:defRPr sz="2400" b="1">
                <a:solidFill>
                  <a:srgbClr val="F0F6FC"/>
                </a:solidFill>
              </a:defRPr>
            </a:pPr>
            <a:r>
              <a:t>Our Solution: Integrated Ground + Space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0E1E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★ Hardware EXIF GPS Extraction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Automatically parses camera hardware tags, GPS Lat/Long (5 decimals), altitude and tamper-proof capture timestamps.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828800"/>
            <a:ext cx="5212080" cy="2011680"/>
          </a:xfrm>
          <a:prstGeom prst="roundRect">
            <a:avLst/>
          </a:prstGeom>
          <a:solidFill>
            <a:srgbClr val="0E1E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★ SHA-256 Anti-Fraud Fingerprinting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Generates unique binary hashes for every evidence photo; duplicate submissions across projects are flagged instantly.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0E1E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★ AI Computer Vision (YOLOv8 + SAM)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Deep neural networks classify check dams, farm ponds, and percolation tanks while measuring water volume and siltation buildup.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114800"/>
            <a:ext cx="5212080" cy="2011680"/>
          </a:xfrm>
          <a:prstGeom prst="roundRect">
            <a:avLst/>
          </a:prstGeom>
          <a:solidFill>
            <a:srgbClr val="0E1E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★ Sentinel-2 Multispectral NDVI Cross-Check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Corroborates ground evidence with 10m-resolution satellite NIR &amp; Red bands to measure vegetative biomass recovery (+176%).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 2026 • PROBLEM STATEMENT SIH26015</a:t>
            </a:r>
          </a:p>
          <a:p>
            <a:pPr>
              <a:defRPr sz="2400" b="1">
                <a:solidFill>
                  <a:srgbClr val="F0F6FC"/>
                </a:solidFill>
              </a:defRPr>
            </a:pPr>
            <a:r>
              <a:t>End-to-End System Architecture &amp;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2011680" cy="2560320"/>
          </a:xfrm>
          <a:prstGeom prst="rect">
            <a:avLst/>
          </a:prstGeom>
          <a:solidFill>
            <a:srgbClr val="0E1E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1. Field Capture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Surveyor takes geo-tagged photo with mobile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9504" y="2743200"/>
            <a:ext cx="2011680" cy="2560320"/>
          </a:xfrm>
          <a:prstGeom prst="rect">
            <a:avLst/>
          </a:prstGeom>
          <a:solidFill>
            <a:srgbClr val="0E1E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2. REST Ingestion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SHA-256 duplicate check &amp; EXIF parsing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7488" y="2743200"/>
            <a:ext cx="2011680" cy="2560320"/>
          </a:xfrm>
          <a:prstGeom prst="rect">
            <a:avLst/>
          </a:prstGeom>
          <a:solidFill>
            <a:srgbClr val="0E1E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3. AI CV Model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YOLOv8 bounding boxes &amp; silt hazard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5472" y="2743200"/>
            <a:ext cx="2011680" cy="2560320"/>
          </a:xfrm>
          <a:prstGeom prst="rect">
            <a:avLst/>
          </a:prstGeom>
          <a:solidFill>
            <a:srgbClr val="0E1E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4. Satellite Engine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Sentinel-2 multispectral NDVI delta compute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63456" y="2743200"/>
            <a:ext cx="2011680" cy="2560320"/>
          </a:xfrm>
          <a:prstGeom prst="rect">
            <a:avLst/>
          </a:prstGeom>
          <a:solidFill>
            <a:srgbClr val="0E1E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5. Officer Portal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GIS Leaflet command center &amp; PDF audit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 2026 • PROBLEM STATEMENT SIH26015</a:t>
            </a:r>
          </a:p>
          <a:p>
            <a:pPr>
              <a:defRPr sz="2400" b="1">
                <a:solidFill>
                  <a:srgbClr val="F0F6FC"/>
                </a:solidFill>
              </a:defRPr>
            </a:pPr>
            <a:r>
              <a:t>Technology Stack &amp; Deployment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0E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Frontend / GIS Mapping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Leaflet.js, OpenStreetMap, Esri World Imagery, HTML5 Canvas Bounding Box Visualizer, CSS3 Responsive Grid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71800"/>
            <a:ext cx="10698480" cy="960120"/>
          </a:xfrm>
          <a:prstGeom prst="roundRect">
            <a:avLst/>
          </a:prstGeom>
          <a:solidFill>
            <a:srgbClr val="0E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Backend REST API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Python, Flask / FastAPI, SQLite persistent storage, Pillow EXIF metadata engine, hashlib SHA-256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698480" cy="960120"/>
          </a:xfrm>
          <a:prstGeom prst="roundRect">
            <a:avLst/>
          </a:prstGeom>
          <a:solidFill>
            <a:srgbClr val="0E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AI / Machine Learning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YOLOv8 Computer Vision, Segment Anything Model (SAM), OpenCV feature extraction, sediment risk 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57800"/>
            <a:ext cx="10698480" cy="960120"/>
          </a:xfrm>
          <a:prstGeom prst="roundRect">
            <a:avLst/>
          </a:prstGeom>
          <a:solidFill>
            <a:srgbClr val="0E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Remote Sensing Data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Copernicus Sentinel-2 Multispectral Imagery, Google Earth Engine, NDVI (B8 - B4) / (B8 + B4)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 2026 • PROBLEM STATEMENT SIH26015</a:t>
            </a:r>
          </a:p>
          <a:p>
            <a:pPr>
              <a:defRPr sz="2400" b="1">
                <a:solidFill>
                  <a:srgbClr val="F0F6FC"/>
                </a:solidFill>
              </a:defRPr>
            </a:pPr>
            <a:r>
              <a:t>Impact, Benefits &amp; National Scalability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212080" cy="1828800"/>
          </a:xfrm>
          <a:prstGeom prst="roundRect">
            <a:avLst/>
          </a:prstGeom>
          <a:solidFill>
            <a:srgbClr val="0E1E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✔ 100% Transparency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Cryptographic SHA-256 hashing stops duplicate photo fund embezzlement permanently across districts.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2011680"/>
            <a:ext cx="5212080" cy="1828800"/>
          </a:xfrm>
          <a:prstGeom prst="roundRect">
            <a:avLst/>
          </a:prstGeom>
          <a:solidFill>
            <a:srgbClr val="0E1E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✔ 80% Faster Approvals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Automated EXIF GPS extraction and AI siltation detection replaces tedious manual photo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212080" cy="1828800"/>
          </a:xfrm>
          <a:prstGeom prst="roundRect">
            <a:avLst/>
          </a:prstGeom>
          <a:solidFill>
            <a:srgbClr val="0E1E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✔ Targeted Maintenance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Early siltation hazard alerts enable pre-monsoon desiltation before structures fail or burst.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114800"/>
            <a:ext cx="5212080" cy="1828800"/>
          </a:xfrm>
          <a:prstGeom prst="roundRect">
            <a:avLst/>
          </a:prstGeom>
          <a:solidFill>
            <a:srgbClr val="0E1E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✔ Farmer Drought Resilience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Continuous NDVI tracking ensures watershed funding creates real, measurable groundwater and biomass 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